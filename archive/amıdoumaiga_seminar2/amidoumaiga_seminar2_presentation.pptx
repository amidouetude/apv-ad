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00" r:id="rId2"/>
    <p:sldId id="299" r:id="rId3"/>
    <p:sldId id="328" r:id="rId4"/>
    <p:sldId id="304" r:id="rId5"/>
    <p:sldId id="261" r:id="rId6"/>
    <p:sldId id="262" r:id="rId7"/>
    <p:sldId id="324" r:id="rId8"/>
    <p:sldId id="325" r:id="rId9"/>
    <p:sldId id="317" r:id="rId10"/>
    <p:sldId id="298" r:id="rId11"/>
    <p:sldId id="327" r:id="rId12"/>
    <p:sldId id="265" r:id="rId13"/>
    <p:sldId id="258" r:id="rId14"/>
    <p:sldId id="307" r:id="rId15"/>
    <p:sldId id="267" r:id="rId16"/>
    <p:sldId id="268" r:id="rId17"/>
    <p:sldId id="308" r:id="rId18"/>
    <p:sldId id="309" r:id="rId19"/>
    <p:sldId id="313" r:id="rId20"/>
    <p:sldId id="269" r:id="rId21"/>
    <p:sldId id="270" r:id="rId22"/>
    <p:sldId id="272" r:id="rId23"/>
    <p:sldId id="322" r:id="rId24"/>
    <p:sldId id="318" r:id="rId25"/>
    <p:sldId id="275" r:id="rId26"/>
    <p:sldId id="276" r:id="rId27"/>
    <p:sldId id="277" r:id="rId28"/>
    <p:sldId id="289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1224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dou MAIGA" userId="e3a68560-8b3e-4c6f-8a91-7cd388bfee19" providerId="ADAL" clId="{EE1FCA00-302A-4A4E-A5D7-0CF99FAEA4A6}"/>
    <pc:docChg chg="modSld">
      <pc:chgData name="Amidou MAIGA" userId="e3a68560-8b3e-4c6f-8a91-7cd388bfee19" providerId="ADAL" clId="{EE1FCA00-302A-4A4E-A5D7-0CF99FAEA4A6}" dt="2026-06-11T11:58:24.791" v="4" actId="14100"/>
      <pc:docMkLst>
        <pc:docMk/>
      </pc:docMkLst>
      <pc:sldChg chg="modSp mod">
        <pc:chgData name="Amidou MAIGA" userId="e3a68560-8b3e-4c6f-8a91-7cd388bfee19" providerId="ADAL" clId="{EE1FCA00-302A-4A4E-A5D7-0CF99FAEA4A6}" dt="2026-06-11T11:58:24.791" v="4" actId="14100"/>
        <pc:sldMkLst>
          <pc:docMk/>
          <pc:sldMk cId="174645475" sldId="289"/>
        </pc:sldMkLst>
        <pc:spChg chg="mod">
          <ac:chgData name="Amidou MAIGA" userId="e3a68560-8b3e-4c6f-8a91-7cd388bfee19" providerId="ADAL" clId="{EE1FCA00-302A-4A4E-A5D7-0CF99FAEA4A6}" dt="2026-06-11T11:58:24.791" v="4" actId="14100"/>
          <ac:spMkLst>
            <pc:docMk/>
            <pc:sldMk cId="174645475" sldId="289"/>
            <ac:spMk id="22" creationId="{25492C3F-C070-4A83-80B0-C347FF20A9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69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6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73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78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71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7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64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8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5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54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92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06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946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67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65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82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6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.jrc.ec.europa.eu/pvg_tools/en/#TM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0BDA5BE-5E4C-4ACE-860D-51950D3A59BB}"/>
              </a:ext>
            </a:extLst>
          </p:cNvPr>
          <p:cNvSpPr/>
          <p:nvPr/>
        </p:nvSpPr>
        <p:spPr>
          <a:xfrm>
            <a:off x="0" y="24003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Agrivoltaic–Anaerobic Digestion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Across Four Climate Zones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00511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Novel Extended Land Equivalent Ratio Framework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Food-Energy-Water Nexus Assessment</a:t>
            </a:r>
            <a:endParaRPr lang="en-US" sz="2000" b="1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6350">
            <a:solidFill>
              <a:srgbClr val="2A8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Sites: Konya (Türkiye)  ·  Almería (Spain)  ·  Ouagadougou (Burkina Faso)  ·  Freiburg (Germany)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457200" y="4623280"/>
            <a:ext cx="8229600" cy="76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Amidou MAIGA  |  Erciyes University</a:t>
            </a:r>
            <a:b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Prof. Dr. Gamze GENÇ</a:t>
            </a:r>
          </a:p>
          <a:p>
            <a:pPr marL="0" indent="0" algn="ctr">
              <a:lnSpc>
                <a:spcPct val="200000"/>
              </a:lnSpc>
              <a:buNone/>
            </a:pP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200000"/>
              </a:lnSpc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5364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552EE-CAFA-437B-A280-D4733E03364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EC6C4"/>
          </a:solidFill>
          <a:ln w="12700">
            <a:solidFill>
              <a:srgbClr val="3EC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" y="27432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3429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</a:p>
        </p:txBody>
      </p:sp>
      <p:sp>
        <p:nvSpPr>
          <p:cNvPr id="5" name="Text 3"/>
          <p:cNvSpPr/>
          <p:nvPr/>
        </p:nvSpPr>
        <p:spPr>
          <a:xfrm>
            <a:off x="342900" y="30861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Design, Models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58728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Sites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97279"/>
            <a:ext cx="2316844" cy="3201761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algn="l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Konya (Turkey)  </a:t>
            </a:r>
          </a:p>
          <a:p>
            <a:pPr algn="l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Almería (Spain)  </a:t>
            </a:r>
          </a:p>
          <a:p>
            <a:pPr algn="l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 (Burkina Faso)  </a:t>
            </a:r>
          </a:p>
          <a:p>
            <a:pPr algn="l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Freiburg (Germany)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EDBDEE61-E1FC-431F-A631-ECF231E06D1B}"/>
              </a:ext>
            </a:extLst>
          </p:cNvPr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225D5-7F16-484C-A18F-0C0AA6CB334E}"/>
              </a:ext>
            </a:extLst>
          </p:cNvPr>
          <p:cNvSpPr/>
          <p:nvPr/>
        </p:nvSpPr>
        <p:spPr>
          <a:xfrm>
            <a:off x="2945094" y="164593"/>
            <a:ext cx="5942874" cy="481431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4858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268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Model &amp; Crop Yield Equations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35552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242" y="31482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PV Power Output (Eq. 10)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2242" y="3447561"/>
            <a:ext cx="5414886" cy="585216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309600" y="3431591"/>
                <a:ext cx="5305158" cy="5362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𝑃𝑉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𝑆𝑇𝐶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× 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𝑙𝑜𝑠𝑠</m:t>
                              </m:r>
                            </m:sub>
                          </m:sSub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 + 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𝑐𝑒𝑙𝑙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− 25</m:t>
                              </m:r>
                            </m:e>
                          </m:d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0" y="3431591"/>
                <a:ext cx="5305158" cy="536219"/>
              </a:xfrm>
              <a:prstGeom prst="rect">
                <a:avLst/>
              </a:prstGeom>
              <a:blipFill>
                <a:blip r:embed="rId3"/>
                <a:stretch>
                  <a:fillRect l="-8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262242" y="4030319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P_STC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550 Wp (Jinko Tiger Neo bifacial)  </a:t>
            </a: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βp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−0.0035 K⁻¹  </a:t>
            </a: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η_loss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0.12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" y="125193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Cell Temperature — Faiman (2008) (Eq. 9)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" y="1617697"/>
            <a:ext cx="3925355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310896" y="1716508"/>
                <a:ext cx="3495196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𝑐𝑒𝑙𝑙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𝑎𝑚𝑏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" y="1716508"/>
                <a:ext cx="3495196" cy="411480"/>
              </a:xfrm>
              <a:prstGeom prst="rect">
                <a:avLst/>
              </a:prstGeom>
              <a:blipFill>
                <a:blip r:embed="rId4"/>
                <a:stretch>
                  <a:fillRect t="-8955" b="-149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201168" y="2288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U₀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 25 W/m²·K  |  </a:t>
            </a: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U₁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 6.84 W·s/m³·K  (wind-dependent convective cooling)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288704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Ratio — PAR Integral (Eq. 11)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617697"/>
            <a:ext cx="4142154" cy="1005840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126523" y="1706611"/>
                <a:ext cx="5195430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𝑐𝑟𝑜𝑝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𝑃𝐴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𝐴𝑉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𝑃𝐴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𝑠𝑎𝑡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𝑜𝑝𝑒𝑛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523" y="1706611"/>
                <a:ext cx="5195430" cy="822960"/>
              </a:xfrm>
              <a:prstGeom prst="rect">
                <a:avLst/>
              </a:prstGeom>
              <a:blipFill>
                <a:blip r:embed="rId5"/>
                <a:stretch>
                  <a:fillRect b="-22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4548321" y="2572836"/>
            <a:ext cx="4279392" cy="3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PAR_sat (tomato) = 174 W/m² 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vs. lettuce = 76 W/m²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6559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Anaerobic Digestion &amp; Arrhenius Correction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1827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Arrhenius BMP Temperature Correction (Eq. 2)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1827" y="1389888"/>
            <a:ext cx="5847940" cy="640080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41554" y="1481328"/>
                <a:ext cx="526147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𝐵𝑀𝑃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𝑇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𝐵𝑀𝑃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𝑟𝑒𝑓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exp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⁡( 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𝜃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× (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𝑇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𝑟𝑒𝑓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  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𝜃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= 0.069 °</m:t>
                      </m:r>
                      <m:sSup>
                        <m:sSup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𝐶</m:t>
                          </m:r>
                        </m:e>
                        <m:sup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−1</m:t>
                          </m:r>
                        </m:sup>
                      </m:sSup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 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𝑇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𝑟𝑒𝑓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37°</m:t>
                      </m:r>
                      <m:r>
                        <a:rPr lang="en-US" sz="1600" i="1" dirty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𝐶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54" y="1481328"/>
                <a:ext cx="5261473" cy="457200"/>
              </a:xfrm>
              <a:prstGeom prst="rect">
                <a:avLst/>
              </a:prstGeom>
              <a:blipFill>
                <a:blip r:embed="rId3"/>
                <a:stretch>
                  <a:fillRect t="-6667" b="-24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1531827" y="2206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Digester Heat Balance (Eq. 18)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531827" y="2481000"/>
            <a:ext cx="5847940" cy="1309546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/>
              <p:cNvSpPr/>
              <p:nvPr/>
            </p:nvSpPr>
            <p:spPr>
              <a:xfrm>
                <a:off x="1641554" y="2572440"/>
                <a:ext cx="5620981" cy="12363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h𝑒𝑎𝑡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𝑙𝑜𝑠𝑠</m:t>
                          </m:r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,</m:t>
                          </m:r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𝑐𝑜𝑛𝑑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𝑖𝑛𝑓𝑙𝑜𝑤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−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𝑟𝑒𝑎𝑐𝑡𝑖𝑜𝑛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𝑙𝑜𝑠𝑠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𝑈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𝑒𝑓𝑓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𝐴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𝑤𝑎𝑙𝑙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 </m:t>
                      </m:r>
                      <m:d>
                        <m:d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𝑑𝑖𝑔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𝑎𝑚𝑏</m:t>
                              </m:r>
                            </m:sub>
                          </m:sSub>
                        </m:e>
                      </m:d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24</m:t>
                          </m:r>
                        </m:num>
                        <m:den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𝑃𝑉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𝑠𝑢𝑝𝑝𝑙𝑖𝑒𝑠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: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𝑓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𝑃𝑉</m:t>
                          </m:r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,</m:t>
                          </m:r>
                          <m:r>
                            <a:rPr lang="en-US" sz="1600" b="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h𝑒𝑎𝑡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𝐸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𝑃𝑉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d>
                        <m:d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𝑒𝑙𝑒𝑐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= 0.95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54" y="2572440"/>
                <a:ext cx="5620981" cy="1236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/>
          <p:cNvSpPr/>
          <p:nvPr/>
        </p:nvSpPr>
        <p:spPr>
          <a:xfrm>
            <a:off x="1531827" y="39428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Energy Self-sufficiency Ratio (ESR)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31827" y="4198859"/>
            <a:ext cx="5847940" cy="725971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9"/>
              <p:cNvSpPr/>
              <p:nvPr/>
            </p:nvSpPr>
            <p:spPr>
              <a:xfrm>
                <a:off x="1641555" y="4308588"/>
                <a:ext cx="4261104" cy="5224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𝐸𝑆𝑅</m:t>
                      </m:r>
                      <m:r>
                        <a:rPr lang="en-US" sz="13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13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3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𝑃𝑉</m:t>
                                  </m:r>
                                </m:sub>
                              </m:sSub>
                              <m:r>
                                <a:rPr lang="en-US" sz="13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300" i="1" dirty="0" smtClean="0">
                                      <a:solidFill>
                                        <a:srgbClr val="1A2B2C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𝑏𝑖𝑜𝑔𝑎𝑠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30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3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h𝑒𝑎𝑡</m:t>
                              </m:r>
                            </m:sub>
                          </m:sSub>
                        </m:den>
                      </m:f>
                      <m:r>
                        <a:rPr lang="en-US" sz="13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≫  1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2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55" y="4308588"/>
                <a:ext cx="4261104" cy="522458"/>
              </a:xfrm>
              <a:prstGeom prst="rect">
                <a:avLst/>
              </a:prstGeom>
              <a:blipFill>
                <a:blip r:embed="rId5"/>
                <a:stretch>
                  <a:fillRect b="-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eLER Metric — Central Contribution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11784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eLER extends the classical two-component LER to include net biogas energy as a third land-use output: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0645" y="1618208"/>
            <a:ext cx="7542137" cy="923544"/>
          </a:xfrm>
          <a:prstGeom prst="rect">
            <a:avLst/>
          </a:prstGeom>
          <a:solidFill>
            <a:srgbClr val="FDF3E3"/>
          </a:solidFill>
          <a:ln w="12700">
            <a:solidFill>
              <a:srgbClr val="C97A2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2255094" y="1754122"/>
                <a:ext cx="4015154" cy="8321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𝑒𝐿𝐸𝑅</m:t>
                      </m:r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 =  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𝑐𝑟𝑜𝑝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 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𝐴𝑉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𝑐𝑟𝑜𝑝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𝑜𝑝𝑒𝑛</m:t>
                              </m:r>
                            </m:sub>
                          </m:sSub>
                        </m:den>
                      </m:f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+  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𝑃𝑉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𝑛𝑒𝑡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𝑃𝑉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US" sz="1600" i="1" dirty="0" smtClean="0">
                          <a:solidFill>
                            <a:srgbClr val="1A2B2C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+  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1A2B2C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𝑏𝑖𝑜𝑔𝑎𝑠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𝑛𝑒𝑡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𝑏𝑖𝑜𝑔𝑎𝑠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,</m:t>
                              </m:r>
                              <m:r>
                                <a:rPr lang="en-US" sz="1600" b="0" i="1" dirty="0" smtClean="0">
                                  <a:solidFill>
                                    <a:srgbClr val="1A2B2C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1A2B2C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094" y="1754122"/>
                <a:ext cx="4015154" cy="832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924CCCD8-F5D1-43D7-B1BF-B6A0B0E84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36491"/>
              </p:ext>
            </p:extLst>
          </p:nvPr>
        </p:nvGraphicFramePr>
        <p:xfrm>
          <a:off x="353568" y="2887010"/>
          <a:ext cx="8741664" cy="1524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Dupraz et al. (2011)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wheat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Fixed-tilt, modelled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Mohammedi et al.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Fixed-tilt, exp.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Riaz et al. (2022)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(AZ)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Bifacial, optimized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Mazzeo et al.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Open-field, optimized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8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91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2386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Modelling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0614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94309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Six coupled sub-models simultaneously optimized over six design variables: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201168" y="1868309"/>
            <a:ext cx="1298448" cy="77724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PVGIS-SARAH3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TMY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99616" y="2256929"/>
            <a:ext cx="128016" cy="0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7632" y="1868309"/>
            <a:ext cx="1298448" cy="777240"/>
          </a:xfrm>
          <a:prstGeom prst="rect">
            <a:avLst/>
          </a:prstGeom>
          <a:solidFill>
            <a:srgbClr val="2A8A8F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Geometry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82496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256929"/>
            <a:ext cx="128016" cy="0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54096" y="1868309"/>
            <a:ext cx="1298448" cy="777240"/>
          </a:xfrm>
          <a:prstGeom prst="rect">
            <a:avLst/>
          </a:prstGeom>
          <a:solidFill>
            <a:srgbClr val="2A8A8F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Bifacial PV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256929"/>
            <a:ext cx="128016" cy="0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868309"/>
            <a:ext cx="1298448" cy="777240"/>
          </a:xfrm>
          <a:prstGeom prst="rect">
            <a:avLst/>
          </a:prstGeom>
          <a:solidFill>
            <a:srgbClr val="2A8A8F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integral)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35424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79008" y="2256929"/>
            <a:ext cx="128016" cy="0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1868309"/>
            <a:ext cx="1298448" cy="777240"/>
          </a:xfrm>
          <a:prstGeom prst="rect">
            <a:avLst/>
          </a:prstGeom>
          <a:solidFill>
            <a:srgbClr val="2A8A8F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Reduction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(Penman-M.)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61888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05472" y="2256929"/>
            <a:ext cx="128016" cy="0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1868309"/>
            <a:ext cx="1298448" cy="777240"/>
          </a:xfrm>
          <a:prstGeom prst="rect">
            <a:avLst/>
          </a:prstGeom>
          <a:solidFill>
            <a:srgbClr val="2A8A8F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923173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Biogas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Heat Balance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88352" y="243523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81144" y="2645549"/>
            <a:ext cx="0" cy="292608"/>
          </a:xfrm>
          <a:prstGeom prst="line">
            <a:avLst/>
          </a:prstGeom>
          <a:noFill/>
          <a:ln w="19050">
            <a:solidFill>
              <a:srgbClr val="C97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2944980"/>
            <a:ext cx="3474720" cy="610261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99865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Optimizer  →  Maximize eLER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3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1364776"/>
            <a:ext cx="2630742" cy="2988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Design &amp; AD Scenarios :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Optimizer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3708916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245" y="2128401"/>
            <a:ext cx="222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8E5150-692B-4908-85A3-6CE1EC34849E}"/>
              </a:ext>
            </a:extLst>
          </p:cNvPr>
          <p:cNvSpPr/>
          <p:nvPr/>
        </p:nvSpPr>
        <p:spPr>
          <a:xfrm>
            <a:off x="2249715" y="0"/>
            <a:ext cx="6894286" cy="51434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Design &amp; AD Scenarios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64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7: AD Valorization Scenarios (S0–S5)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11935"/>
              </p:ext>
            </p:extLst>
          </p:nvPr>
        </p:nvGraphicFramePr>
        <p:xfrm>
          <a:off x="1481052" y="1705897"/>
          <a:ext cx="5852160" cy="2504372"/>
        </p:xfrm>
        <a:graphic>
          <a:graphicData uri="http://schemas.openxmlformats.org/drawingml/2006/table">
            <a:tbl>
              <a:tblPr/>
              <a:tblGrid>
                <a:gridCol w="1013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9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mono-digestion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BMP_mult =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Co-digestion (+30% manure)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 BMP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9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Sub-optimal CH₄ capture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η_cap = 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 displacement (on-site)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p_biogas = $0.18/kWh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9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Digestate N-P-K credit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credit $1.20/kg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Biomethane grid injection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5.5× electricity 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481051" y="4304126"/>
            <a:ext cx="5852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S5 motivated by Nik Zad et al. (2026): biomethane = 5.5× electricity market price (Italian / EEG 2023)</a:t>
            </a:r>
            <a:endParaRPr lang="en-US" sz="1200" b="1" dirty="0"/>
          </a:p>
        </p:txBody>
      </p:sp>
      <p:sp>
        <p:nvSpPr>
          <p:cNvPr id="13" name="Text 9"/>
          <p:cNvSpPr/>
          <p:nvPr/>
        </p:nvSpPr>
        <p:spPr>
          <a:xfrm>
            <a:off x="1481051" y="4749623"/>
            <a:ext cx="58521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 Open-field German yield (DLG, 2023); residue input = 24 t/ha vs. 48 t/ha at semi-arid sites — propagated through all economic &amp; eLER calculations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75423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552EE-CAFA-437B-A280-D4733E03364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EC6C4"/>
          </a:solidFill>
          <a:ln w="12700">
            <a:solidFill>
              <a:srgbClr val="3EC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" y="27432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0" b="1" dirty="0">
                <a:latin typeface="Trebuchet MS" pitchFamily="34" charset="0"/>
              </a:rPr>
              <a:t>02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3429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Inputs</a:t>
            </a:r>
          </a:p>
        </p:txBody>
      </p:sp>
      <p:sp>
        <p:nvSpPr>
          <p:cNvPr id="5" name="Text 3"/>
          <p:cNvSpPr/>
          <p:nvPr/>
        </p:nvSpPr>
        <p:spPr>
          <a:xfrm>
            <a:off x="342900" y="30861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PVGIS-SARAH3 Climate Data · Seasonal Profiles</a:t>
            </a:r>
          </a:p>
        </p:txBody>
      </p:sp>
    </p:spTree>
    <p:extLst>
      <p:ext uri="{BB962C8B-B14F-4D97-AF65-F5344CB8AC3E}">
        <p14:creationId xmlns:p14="http://schemas.microsoft.com/office/powerpoint/2010/main" val="100560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PVGIS TYPICAL METEROLOGICAL YEAR (TMY) – SARAH3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97279"/>
            <a:ext cx="2999232" cy="3201761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 (UTC)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T2m [°C] - Dry bulb (air) temperature.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RH [%] - Relative Humidity.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G(h) [W/m2] - Global horizontal irradiance.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Gb(n) [W/m2] - Direct (beam) irradiance.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Gd(h) [W/m2] - Diffuse horizontal irradiance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IR(h) [W/m2] - Infrared radiation downwards.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WS10m [m/s] - Windspeed.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WD10m [°] - Wind direction.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 [Pa] - Surface (air) pressure.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4FA0B96-7E36-42D5-80E7-4716A7CB4780}"/>
              </a:ext>
            </a:extLst>
          </p:cNvPr>
          <p:cNvSpPr/>
          <p:nvPr/>
        </p:nvSpPr>
        <p:spPr>
          <a:xfrm>
            <a:off x="517341" y="4740982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https://re.jrc.ec.europa.eu/pvg_tools/en/#TMY</a:t>
            </a: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1EDD8-12FD-423D-A09B-FA48A115C22F}"/>
              </a:ext>
            </a:extLst>
          </p:cNvPr>
          <p:cNvSpPr/>
          <p:nvPr/>
        </p:nvSpPr>
        <p:spPr>
          <a:xfrm>
            <a:off x="3200400" y="1051559"/>
            <a:ext cx="5943600" cy="366198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3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1297275"/>
            <a:ext cx="2016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 &amp; Seasonal Profiles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303116"/>
            <a:ext cx="2456064" cy="258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PVGIS-SARAH3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Typical Meteorological Year (TMY) hourly data — mean bias error &lt; ±5% for monthly GHI (Huld et al., 2012; Urraca et al., 2017). DNI and DHI extracted directly (not decomposed from GHI).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149E28-FF13-4BCC-B098-29CFF2F20D5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32" y="68384"/>
            <a:ext cx="6486768" cy="48236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Sites &amp; Climate Zones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96158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4: Geographical &amp; climatic characteristics (PVGIS-SARAH3 TMY)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907667"/>
              </p:ext>
            </p:extLst>
          </p:nvPr>
        </p:nvGraphicFramePr>
        <p:xfrm>
          <a:off x="201168" y="1596788"/>
          <a:ext cx="8741664" cy="329793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Konya (BSk)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Almería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Ouagadougou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Freiburg (Cfb)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37.87°N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36.83°N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12.37°N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47.99°N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Köppen climate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BSk cold semi-arid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BSh hot semi-arid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BSh tropical semi-arid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Cfb oceanic temp.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annual GHI (kWh/m²)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2,050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annual T (°C)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Tmax (°C)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 Tmin (°C)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~−12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ET₀ (mm)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Precip. (mm)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552EE-CAFA-437B-A280-D4733E03364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EC6C4"/>
          </a:solidFill>
          <a:ln w="12700">
            <a:solidFill>
              <a:srgbClr val="3EC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" y="27432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0" b="1" dirty="0">
                <a:latin typeface="Trebuchet MS" pitchFamily="34" charset="0"/>
              </a:rPr>
              <a:t>03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3429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</a:p>
        </p:txBody>
      </p:sp>
      <p:sp>
        <p:nvSpPr>
          <p:cNvPr id="5" name="Text 3"/>
          <p:cNvSpPr/>
          <p:nvPr/>
        </p:nvSpPr>
        <p:spPr>
          <a:xfrm>
            <a:off x="342900" y="30861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· eLER · Energy · Water · Scenarios</a:t>
            </a:r>
          </a:p>
        </p:txBody>
      </p:sp>
    </p:spTree>
    <p:extLst>
      <p:ext uri="{BB962C8B-B14F-4D97-AF65-F5344CB8AC3E}">
        <p14:creationId xmlns:p14="http://schemas.microsoft.com/office/powerpoint/2010/main" val="3554226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Design Parameters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9: Optimal design variables and primary performance metrics — all four sites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73781"/>
              </p:ext>
            </p:extLst>
          </p:nvPr>
        </p:nvGraphicFramePr>
        <p:xfrm>
          <a:off x="201168" y="1371600"/>
          <a:ext cx="8741664" cy="30449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Konya (BSk)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Almería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Ouagadougou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Freiburg (Cfb)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angle β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spacing d_row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height Hm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Digester volume V_dig (m³)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HRT design (days)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heating fraction f_PV,heat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OLR (kg VS/m³·d)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01168" y="4544568"/>
            <a:ext cx="8741664" cy="438912"/>
          </a:xfrm>
          <a:prstGeom prst="rect">
            <a:avLst/>
          </a:prstGeom>
          <a:solidFill>
            <a:srgbClr val="C8E8EA"/>
          </a:solidFill>
          <a:ln w="6350">
            <a:solidFill>
              <a:srgbClr val="1A5C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" y="4562856"/>
            <a:ext cx="8741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Optimizer converges to d_row = 4.0 m (lower bound) and f_PV,heat = 0.05 (minimum) at ALL four sites → GCR = 54.5% everywhere. Boundary convergence indicates eLER-maximizing solution lies at the edge of the feasible domain.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 Decomposition — Main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ED13E0-89FC-4428-ACAC-6A358DDA54C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65" y="1024128"/>
            <a:ext cx="7290269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 Decomposition — Main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10: eLER decomposition, all four sites (Scenario S0, Baseline)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0706"/>
              </p:ext>
            </p:extLst>
          </p:nvPr>
        </p:nvGraphicFramePr>
        <p:xfrm>
          <a:off x="201168" y="1371600"/>
          <a:ext cx="8741664" cy="295046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Konya (BSk)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Almería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Ouagadougou (BSh)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Freiburg (Cfb)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LER_crop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LER_PV (Def. A — independent)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LER_PV (Def. B — circular = GCR)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LER_biogas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eLER_global (Def.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LER_2C = LER_crop + LER_PV(A)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Lit. max LER_2C (Riaz et al. 2022)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4443984"/>
            <a:ext cx="8741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✦ Penalty-free PV: LER_crop = 1.000 at Almería &amp; Ouagadougou — high solar elevation → near-zero shading during growing season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7211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5771" y="1252357"/>
            <a:ext cx="2456226" cy="2581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Performance &amp; Thermal Balance : Konya</a:t>
            </a:r>
            <a:endParaRPr lang="en-US" sz="2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9A55E8-4CC9-482F-B59E-EAA9FF46B3E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997" y="164592"/>
            <a:ext cx="6101848" cy="47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57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5771" y="1471441"/>
            <a:ext cx="2588924" cy="216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Performance &amp; Thermal Balance : Ouagadougou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B716D-19BF-4C79-B8BC-46E92B413DC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458" y="265176"/>
            <a:ext cx="5960110" cy="457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57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Performance &amp; Thermal Balance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" y="1205756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11: Annual energy performance — all four sites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77205"/>
              </p:ext>
            </p:extLst>
          </p:nvPr>
        </p:nvGraphicFramePr>
        <p:xfrm>
          <a:off x="201168" y="1652562"/>
          <a:ext cx="8741664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Almería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Ouagadougou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Freiburg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total (MWh/ha·yr)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2,382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1,560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sold to grid (MWh/ha·yr)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2,263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1,482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biogas total (MWh/ha)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heat demand (MWh/ha)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Biogas used for heating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165.6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</a:t>
                      </a:r>
                      <a:endParaRPr lang="en-US" sz="1400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 annual avg (NmL CH₄/gVS)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148.8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Gradient: Counter-Intuitive eLER Ordering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GHI gradient:  Ouagadougou  &gt;  Almería  &gt;  Konya  &gt;  Freiburg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" y="1389888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 gradient:  Almería = Ouagadougou  &gt;  Freiburg  &gt;  Konya  ← does NOT follow GHI !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D69FD4-0BC4-4F9D-924B-2694167CECD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3" y="1737361"/>
            <a:ext cx="7615162" cy="30843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Scenario Economics (S0–S5)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eLER is invariant across all scenarios (ΔeLER = 0.000 for S0–S5) — structural result. Economic differentiation only.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201168" y="1444752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income by scenario — summary (k$/yr):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7906AD-6894-4D5F-B80C-F29F33DB706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45" y="1755648"/>
            <a:ext cx="6910610" cy="30619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Scenario Economics (S0–S5)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eLER is invariant across all scenarios (ΔeLER = 0.000 for S0–S5) — structural result. Economic differentiation only.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201168" y="1444752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income by scenario — summary (k$/yr):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21269"/>
              </p:ext>
            </p:extLst>
          </p:nvPr>
        </p:nvGraphicFramePr>
        <p:xfrm>
          <a:off x="201168" y="1943100"/>
          <a:ext cx="8741664" cy="20848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Almería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Ouagadougou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Freiburg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Baseline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$267k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Co-digestion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$267k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LPG displacement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5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+$2.4k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Biomethane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+$3.9k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+$7.2k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+$14.1k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+$2.4k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 (yr)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yr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yr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yr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yr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01168" y="4478308"/>
            <a:ext cx="8741664" cy="5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★ S5 increments over S0 Baseline. S5 adds $14.1k (+5.3%) at Ouagadougou (highest biogas volume). Freiburg S5 limited by 6.0 MWh/yr biogas. Note: figures are revenue minus OpEx — not full NPV/IRR.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55713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552EE-CAFA-437B-A280-D4733E03364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EC6C4"/>
          </a:solidFill>
          <a:ln w="12700">
            <a:solidFill>
              <a:srgbClr val="3EC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" y="27432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0" b="1" dirty="0">
                <a:latin typeface="Trebuchet MS" pitchFamily="34" charset="0"/>
              </a:rPr>
              <a:t>04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3429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Research</a:t>
            </a:r>
          </a:p>
        </p:txBody>
      </p:sp>
      <p:sp>
        <p:nvSpPr>
          <p:cNvPr id="5" name="Text 3"/>
          <p:cNvSpPr/>
          <p:nvPr/>
        </p:nvSpPr>
        <p:spPr>
          <a:xfrm>
            <a:off x="342900" y="30861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Scope, Uncertainty, and Open Questions</a:t>
            </a:r>
          </a:p>
        </p:txBody>
      </p:sp>
    </p:spTree>
    <p:extLst>
      <p:ext uri="{BB962C8B-B14F-4D97-AF65-F5344CB8AC3E}">
        <p14:creationId xmlns:p14="http://schemas.microsoft.com/office/powerpoint/2010/main" val="1514379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43000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59493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" y="159493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model uncertainty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01168" y="2404872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85680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" y="285680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model scope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01168" y="3666744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3666744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411867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" y="411867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Digestate–soil feedback (Gap G6)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5152" y="1143000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143000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59493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159493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Biomethane S5 — no upgrading CAPEX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45152" y="2404872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2404872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85680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285680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analysis — no full NPV/IRR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5152" y="3666744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3666744"/>
            <a:ext cx="292608" cy="1170432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411867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11867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Single-crop analysis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5C61"/>
          </a:solidFill>
          <a:ln w="12700">
            <a:solidFill>
              <a:srgbClr val="1A5C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for Future Research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8741664" cy="0"/>
          </a:xfrm>
          <a:prstGeom prst="line">
            <a:avLst/>
          </a:prstGeom>
          <a:noFill/>
          <a:ln w="6350">
            <a:solidFill>
              <a:srgbClr val="B0C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43000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43000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574153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" y="1574153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validation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1168" y="2404872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404872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836025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" y="2836025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 standardization — alternative LER_biogas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01168" y="3666744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4097897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" y="4097897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NPV/IRR + LCOE with CAPEX breakdown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5152" y="1143000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143000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574153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1574153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— Freiburg / Baden-Württemberg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45152" y="2404872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2404872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836025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2836025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Digestate-to-soil nutrient feedback (Gap G6)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5152" y="3666744"/>
            <a:ext cx="4242816" cy="1170432"/>
          </a:xfrm>
          <a:prstGeom prst="rect">
            <a:avLst/>
          </a:prstGeom>
          <a:solidFill>
            <a:srgbClr val="F7F9F9"/>
          </a:solidFill>
          <a:ln w="6350">
            <a:solidFill>
              <a:srgbClr val="B0CC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3666744"/>
            <a:ext cx="292608" cy="1170432"/>
          </a:xfrm>
          <a:prstGeom prst="rect">
            <a:avLst/>
          </a:prstGeom>
          <a:solidFill>
            <a:srgbClr val="C97A2A"/>
          </a:solidFill>
          <a:ln w="12700">
            <a:solidFill>
              <a:srgbClr val="C97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4097897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097897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 confidence intervals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7E9896D-6242-4259-91D1-DBD2E2F905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6350">
            <a:solidFill>
              <a:srgbClr val="2A8A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33272"/>
            <a:ext cx="329184" cy="329184"/>
          </a:xfrm>
          <a:prstGeom prst="ellipse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3232" y="85122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eLER exceeds the published 1.94 benchmark at ALL four climate zones (1.963–2.293). 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29184" cy="329184"/>
          </a:xfrm>
          <a:prstGeom prst="ellipse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164675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eLER is non-monotone with solar resource</a:t>
            </a:r>
            <a:endParaRPr lang="en-US" b="1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329184" cy="329184"/>
          </a:xfrm>
          <a:prstGeom prst="ellipse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3232" y="244228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Penalty-free PV confirmed at Mediterranean &amp; tropical sites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274320" y="3419856"/>
            <a:ext cx="329184" cy="329184"/>
          </a:xfrm>
          <a:prstGeom prst="ellipse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232" y="323780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self-sufficiency confirmed at all sites (ESR = 76–166). 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274320" y="4215384"/>
            <a:ext cx="329184" cy="329184"/>
          </a:xfrm>
          <a:prstGeom prst="ellipse">
            <a:avLst/>
          </a:prstGeom>
          <a:solidFill>
            <a:srgbClr val="2A8A8F"/>
          </a:solidFill>
          <a:ln w="12700">
            <a:solidFill>
              <a:srgbClr val="2A8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3232" y="403333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Biomethane S5 is the dominant economic scenario everywhere (+$2.4–14.1k/yr). </a:t>
            </a:r>
            <a:endParaRPr lang="en-US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687D9A-7EA1-4871-BEFC-00858892F41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-2355427" y="3303694"/>
            <a:ext cx="3429000" cy="3429000"/>
          </a:xfrm>
          <a:prstGeom prst="ellipse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698" y="2160270"/>
            <a:ext cx="43641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</a:t>
            </a:r>
            <a:r>
              <a:rPr lang="tr-TR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720090"/>
            <a:ext cx="5486400" cy="0"/>
          </a:xfrm>
          <a:prstGeom prst="line">
            <a:avLst/>
          </a:prstGeom>
          <a:noFill/>
          <a:ln w="19050">
            <a:solidFill>
              <a:srgbClr val="3EC6C4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492C3F-C070-4A83-80B0-C347FF20A9E0}"/>
              </a:ext>
            </a:extLst>
          </p:cNvPr>
          <p:cNvSpPr/>
          <p:nvPr/>
        </p:nvSpPr>
        <p:spPr>
          <a:xfrm>
            <a:off x="3530600" y="-1"/>
            <a:ext cx="6485468" cy="5143501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1811</Words>
  <Application>Microsoft Office PowerPoint</Application>
  <PresentationFormat>On-screen Show (16:9)</PresentationFormat>
  <Paragraphs>444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APV-AD Optimization</dc:title>
  <dc:subject>PptxGenJS Presentation</dc:subject>
  <dc:creator>PptxGenJS</dc:creator>
  <cp:lastModifiedBy>Amidou MAIGA</cp:lastModifiedBy>
  <cp:revision>40</cp:revision>
  <dcterms:created xsi:type="dcterms:W3CDTF">2026-06-05T08:47:12Z</dcterms:created>
  <dcterms:modified xsi:type="dcterms:W3CDTF">2026-06-11T11:58:39Z</dcterms:modified>
</cp:coreProperties>
</file>